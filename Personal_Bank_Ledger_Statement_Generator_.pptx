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1" r:id="rId4"/>
    <p:sldId id="258" r:id="rId5"/>
    <p:sldId id="259" r:id="rId6"/>
    <p:sldId id="260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80BE3C-B0B0-4CFB-816B-712D973A64E0}" v="3" dt="2026-09-15T10:05:24.2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SP MADHURI" userId="d5baabbced009fe2" providerId="LiveId" clId="{5C1935DC-7BAA-4BFD-8AE9-FAF66D151093}"/>
    <pc:docChg chg="undo custSel addSld modSld sldOrd">
      <pc:chgData name="TSP MADHURI" userId="d5baabbced009fe2" providerId="LiveId" clId="{5C1935DC-7BAA-4BFD-8AE9-FAF66D151093}" dt="2026-09-15T10:01:58.231" v="188" actId="22"/>
      <pc:docMkLst>
        <pc:docMk/>
      </pc:docMkLst>
      <pc:sldChg chg="addSp delSp modSp mod">
        <pc:chgData name="TSP MADHURI" userId="d5baabbced009fe2" providerId="LiveId" clId="{5C1935DC-7BAA-4BFD-8AE9-FAF66D151093}" dt="2026-09-15T10:01:58.231" v="188" actId="22"/>
        <pc:sldMkLst>
          <pc:docMk/>
          <pc:sldMk cId="1570750093" sldId="256"/>
        </pc:sldMkLst>
        <pc:spChg chg="mod">
          <ac:chgData name="TSP MADHURI" userId="d5baabbced009fe2" providerId="LiveId" clId="{5C1935DC-7BAA-4BFD-8AE9-FAF66D151093}" dt="2026-09-15T09:58:58.254" v="62" actId="20577"/>
          <ac:spMkLst>
            <pc:docMk/>
            <pc:sldMk cId="1570750093" sldId="256"/>
            <ac:spMk id="2" creationId="{81C0CCFF-527E-4AC9-A45F-A8196F49E0C3}"/>
          </ac:spMkLst>
        </pc:spChg>
        <pc:spChg chg="mod">
          <ac:chgData name="TSP MADHURI" userId="d5baabbced009fe2" providerId="LiveId" clId="{5C1935DC-7BAA-4BFD-8AE9-FAF66D151093}" dt="2026-09-15T09:59:08.667" v="65"/>
          <ac:spMkLst>
            <pc:docMk/>
            <pc:sldMk cId="1570750093" sldId="256"/>
            <ac:spMk id="3" creationId="{A452AC95-AA7D-A76A-037F-6B2DB5A27E48}"/>
          </ac:spMkLst>
        </pc:spChg>
        <pc:spChg chg="add del">
          <ac:chgData name="TSP MADHURI" userId="d5baabbced009fe2" providerId="LiveId" clId="{5C1935DC-7BAA-4BFD-8AE9-FAF66D151093}" dt="2026-09-15T09:58:23.995" v="1" actId="22"/>
          <ac:spMkLst>
            <pc:docMk/>
            <pc:sldMk cId="1570750093" sldId="256"/>
            <ac:spMk id="5" creationId="{16E58A68-9A46-73D5-6ACA-6EBDA713DE38}"/>
          </ac:spMkLst>
        </pc:spChg>
        <pc:spChg chg="add del mod">
          <ac:chgData name="TSP MADHURI" userId="d5baabbced009fe2" providerId="LiveId" clId="{5C1935DC-7BAA-4BFD-8AE9-FAF66D151093}" dt="2026-09-15T10:01:58.231" v="188" actId="22"/>
          <ac:spMkLst>
            <pc:docMk/>
            <pc:sldMk cId="1570750093" sldId="256"/>
            <ac:spMk id="7" creationId="{195ACB3F-808A-0A7A-B8BD-A70C42ECC1E5}"/>
          </ac:spMkLst>
        </pc:spChg>
      </pc:sldChg>
      <pc:sldChg chg="modSp new mod">
        <pc:chgData name="TSP MADHURI" userId="d5baabbced009fe2" providerId="LiveId" clId="{5C1935DC-7BAA-4BFD-8AE9-FAF66D151093}" dt="2026-09-15T09:59:16.247" v="74" actId="20577"/>
        <pc:sldMkLst>
          <pc:docMk/>
          <pc:sldMk cId="676338040" sldId="257"/>
        </pc:sldMkLst>
        <pc:spChg chg="mod">
          <ac:chgData name="TSP MADHURI" userId="d5baabbced009fe2" providerId="LiveId" clId="{5C1935DC-7BAA-4BFD-8AE9-FAF66D151093}" dt="2026-09-15T09:59:16.247" v="74" actId="20577"/>
          <ac:spMkLst>
            <pc:docMk/>
            <pc:sldMk cId="676338040" sldId="257"/>
            <ac:spMk id="2" creationId="{EDE71AF3-F02C-0F4C-0929-57F8B753540D}"/>
          </ac:spMkLst>
        </pc:spChg>
      </pc:sldChg>
      <pc:sldChg chg="modSp new mod">
        <pc:chgData name="TSP MADHURI" userId="d5baabbced009fe2" providerId="LiveId" clId="{5C1935DC-7BAA-4BFD-8AE9-FAF66D151093}" dt="2026-09-15T09:59:25.529" v="86" actId="20577"/>
        <pc:sldMkLst>
          <pc:docMk/>
          <pc:sldMk cId="4104242747" sldId="258"/>
        </pc:sldMkLst>
        <pc:spChg chg="mod">
          <ac:chgData name="TSP MADHURI" userId="d5baabbced009fe2" providerId="LiveId" clId="{5C1935DC-7BAA-4BFD-8AE9-FAF66D151093}" dt="2026-09-15T09:59:25.529" v="86" actId="20577"/>
          <ac:spMkLst>
            <pc:docMk/>
            <pc:sldMk cId="4104242747" sldId="258"/>
            <ac:spMk id="2" creationId="{8E154CC5-4FD5-611A-4481-E878E281E2CD}"/>
          </ac:spMkLst>
        </pc:spChg>
      </pc:sldChg>
      <pc:sldChg chg="modSp new mod">
        <pc:chgData name="TSP MADHURI" userId="d5baabbced009fe2" providerId="LiveId" clId="{5C1935DC-7BAA-4BFD-8AE9-FAF66D151093}" dt="2026-09-15T09:59:36.234" v="101" actId="20577"/>
        <pc:sldMkLst>
          <pc:docMk/>
          <pc:sldMk cId="4178111765" sldId="259"/>
        </pc:sldMkLst>
        <pc:spChg chg="mod">
          <ac:chgData name="TSP MADHURI" userId="d5baabbced009fe2" providerId="LiveId" clId="{5C1935DC-7BAA-4BFD-8AE9-FAF66D151093}" dt="2026-09-15T09:59:36.234" v="101" actId="20577"/>
          <ac:spMkLst>
            <pc:docMk/>
            <pc:sldMk cId="4178111765" sldId="259"/>
            <ac:spMk id="2" creationId="{3954FDF4-A21D-11D6-CA7A-382058E2F499}"/>
          </ac:spMkLst>
        </pc:spChg>
      </pc:sldChg>
      <pc:sldChg chg="modSp new mod">
        <pc:chgData name="TSP MADHURI" userId="d5baabbced009fe2" providerId="LiveId" clId="{5C1935DC-7BAA-4BFD-8AE9-FAF66D151093}" dt="2026-09-15T09:59:46.562" v="113" actId="20577"/>
        <pc:sldMkLst>
          <pc:docMk/>
          <pc:sldMk cId="1869875426" sldId="260"/>
        </pc:sldMkLst>
        <pc:spChg chg="mod">
          <ac:chgData name="TSP MADHURI" userId="d5baabbced009fe2" providerId="LiveId" clId="{5C1935DC-7BAA-4BFD-8AE9-FAF66D151093}" dt="2026-09-15T09:59:46.562" v="113" actId="20577"/>
          <ac:spMkLst>
            <pc:docMk/>
            <pc:sldMk cId="1869875426" sldId="260"/>
            <ac:spMk id="2" creationId="{C73BDDFB-DFEC-7A21-D889-17965A225820}"/>
          </ac:spMkLst>
        </pc:spChg>
      </pc:sldChg>
      <pc:sldChg chg="modSp new mod ord">
        <pc:chgData name="TSP MADHURI" userId="d5baabbced009fe2" providerId="LiveId" clId="{5C1935DC-7BAA-4BFD-8AE9-FAF66D151093}" dt="2026-09-15T10:00:14.865" v="149"/>
        <pc:sldMkLst>
          <pc:docMk/>
          <pc:sldMk cId="3980090555" sldId="261"/>
        </pc:sldMkLst>
        <pc:spChg chg="mod">
          <ac:chgData name="TSP MADHURI" userId="d5baabbced009fe2" providerId="LiveId" clId="{5C1935DC-7BAA-4BFD-8AE9-FAF66D151093}" dt="2026-09-15T10:00:08.859" v="147" actId="20577"/>
          <ac:spMkLst>
            <pc:docMk/>
            <pc:sldMk cId="3980090555" sldId="261"/>
            <ac:spMk id="2" creationId="{54D4AC2B-1702-695F-E0B5-9F6550F04B7D}"/>
          </ac:spMkLst>
        </pc:spChg>
      </pc:sldChg>
      <pc:sldChg chg="modSp new mod">
        <pc:chgData name="TSP MADHURI" userId="d5baabbced009fe2" providerId="LiveId" clId="{5C1935DC-7BAA-4BFD-8AE9-FAF66D151093}" dt="2026-09-15T10:00:56.631" v="184" actId="20577"/>
        <pc:sldMkLst>
          <pc:docMk/>
          <pc:sldMk cId="1396777043" sldId="262"/>
        </pc:sldMkLst>
        <pc:spChg chg="mod">
          <ac:chgData name="TSP MADHURI" userId="d5baabbced009fe2" providerId="LiveId" clId="{5C1935DC-7BAA-4BFD-8AE9-FAF66D151093}" dt="2026-09-15T10:00:56.631" v="184" actId="20577"/>
          <ac:spMkLst>
            <pc:docMk/>
            <pc:sldMk cId="1396777043" sldId="262"/>
            <ac:spMk id="2" creationId="{BDCEF2EB-DC8E-A39F-8C45-4CB81854799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27AFC0-00B8-4117-895C-3E834B171036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476CA-421D-4B57-8942-5762D93F1A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164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5F3B8-DDEB-3931-BD30-FCDF92768B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0E52B7-3612-C42C-E3C4-1568700ED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2A539-9977-5E0E-CDC1-067BB186F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549C3-E12B-4CC2-9FA1-D4C0643B7241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91C38-BEF3-AA2E-ACFE-DCF1543BE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CB7FA-8196-F586-E960-B5BAE429F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B3F1FD-0147-797C-0ED6-E694A2BD62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59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259C4-DC4A-CF70-25D2-F39535A1F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6C27E-0A06-D409-8884-852E74A29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AC31F-7BFD-CA38-00A7-A2FD01A0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15AD4-5B3F-78FD-DE66-C3F50AC63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0549F-8592-A2F0-A7A6-A1C45E9E6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81CCB4-DDFA-058A-AE03-5A3CFCA9F8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15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EAB08-E23E-771E-1FDE-DC7851594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36FC1-1DB6-A8A4-C315-834C3FFCF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65D3F-93C4-BE6A-B0D8-5AFF3E69A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BF378-8F16-492D-87B3-963C20ACF441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2169B-9903-41C3-CC1A-A773A925D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CC6B5-6988-9DF9-8223-C5EB677C9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3DABBD-F85F-360C-A546-D5E0B92597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256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988FF-7E75-1B89-7C11-7B6C180BD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E0077-B676-7850-AAD4-77689FB5B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E4118E-9650-EED0-1592-D4AD00CF4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D1BDD-D86C-6A53-CEF7-1AEC9AB1A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9781E-9150-4561-9F7C-01394C55C5AE}" type="datetime1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15FF2-A4C5-135F-9FA1-A00A6BF9A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FB8AA-FC6D-B278-7FFF-C52EF4307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064E1C-D746-419C-5FE6-033B95CAC3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26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900-8F42-8A20-E378-434465ED2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DB5D6-6D80-913C-77A3-83E1C2757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7E712-FB4A-DBE7-7EE8-B34465C75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FC7C92-E667-0F30-6C26-267F10CBC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31715A-AF86-785C-73F2-00FF9D5D32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01D6D5-269C-31AC-CC40-917E0E246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2896-961F-4F7A-B2DD-D0EFF57BA027}" type="datetime1">
              <a:rPr lang="en-IN" smtClean="0"/>
              <a:t>16-10-2026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0DFF97-DB90-A3DC-1A5F-E041ABA4F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DFEC1F-4C0D-B461-B76D-FAFE7A86B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D765FD-6DB7-1155-27BC-BD0DB45299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133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FB57-0CBB-0AA3-9BF0-2ED233797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2CE64-C359-3445-7AB9-29DE8577C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51132-6BA4-40BC-AB03-D6B9C4F193FC}" type="datetime1">
              <a:rPr lang="en-IN" smtClean="0"/>
              <a:t>16-10-2026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63F73F-0420-C605-3EFF-74CBBE1B7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6EE44D-529C-1AC9-123B-7EBF53FA6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A6640D-01A3-9B0C-80EF-F10DE42207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580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479728-5FED-202E-6651-A7474C32A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85D5E-B9E5-4C7E-88B1-43A66A7C3488}" type="datetime1">
              <a:rPr lang="en-IN" smtClean="0"/>
              <a:t>16-10-2026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F6D777-ECC4-1DAB-81FF-7D7AF3FF3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56A1D-0096-D4B4-2B11-1CDFE3317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60B416-1EF4-3CD6-8E26-DC636E7B37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129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E5010-2418-091A-429D-37E400ABA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91DC8-3F06-BF0E-8109-8C1FEDEAD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544A7E-4423-60E2-E6E9-AAF09976D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3B07B-D8E2-C0AA-F7E4-545DF979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E2A2-8283-469E-B4A1-D6877668ECFE}" type="datetime1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B3DF0-CC05-0B05-24D9-6663B5E1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B53E2-0205-A987-5D45-0DFC51D89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6F4A6A-FE20-C82E-95DD-FA2A5FCB0B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76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B7E51-2E25-5BFC-2696-794A224B6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F9DC63-25C2-8B4F-3683-6B0A9BC756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4EBA80-D1E6-9786-229E-B9B70D9BD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0DED29-F47E-2534-AFB4-003A8091A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0A723-EDD4-4822-84BE-4B7F697B4E56}" type="datetime1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6DE89-3F60-1B9B-0597-F389CAA72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0B78F6-7EC0-BF15-5CA1-F0159D796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256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38785-1FEB-0757-FEC8-6AA1CB86C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94473-1718-0D76-22B7-33E82D611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9B1E2-29EC-2F2E-B362-55E80C4D0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8764-2CC6-431B-B501-1DF197EE73CC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6D9E9-31F7-01F5-C19A-438C40773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E1B4F-5C80-EFB0-BA9F-8F17B844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2412BD-D800-391F-9FB6-159E83E747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846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C43F02-0084-480F-2BA3-75A1C0102C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B22D9D-B106-6765-76CF-C9843EC19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262E0-081B-BE3A-F92B-73DE583ED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EEFFA-3959-41FE-A774-B9B27FD8983C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9D4DC-613B-8105-F661-A37BB2AD0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46AAE-21DC-2AE1-CF07-91F73A4DF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544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948038-F901-EAD1-D5DB-03603E896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E2A14-F9FA-9B0B-5AA7-D785E09BA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56813-B660-C26F-CFEF-AF22C547F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F4BF4-0D93-4F1E-82BB-778F1EDDD45F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697EB-16D9-74E1-1448-0CDC28071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42DC9-4178-3222-F3F2-C5EC792CA7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481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3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13232" y="804672"/>
            <a:ext cx="91440" cy="4526280"/>
          </a:xfrm>
          <a:prstGeom prst="rect">
            <a:avLst/>
          </a:prstGeom>
          <a:solidFill>
            <a:srgbClr val="DEA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115568" y="804672"/>
            <a:ext cx="1965960" cy="292608"/>
          </a:xfrm>
          <a:prstGeom prst="roundRect">
            <a:avLst/>
          </a:prstGeom>
          <a:solidFill>
            <a:srgbClr val="223852"/>
          </a:solidFill>
          <a:ln w="10160">
            <a:solidFill>
              <a:srgbClr val="22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52144" y="818388"/>
            <a:ext cx="1892807" cy="24688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99DED4"/>
                </a:solidFill>
                <a:latin typeface="Aptos"/>
              </a:rPr>
              <a:t>JAVA MINI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1417320"/>
            <a:ext cx="9875520" cy="1554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ptos"/>
              </a:rPr>
              <a:t>Personal Bank Ledger
Statement Generator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3246120"/>
            <a:ext cx="896112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CEDCE8"/>
                </a:solidFill>
                <a:latin typeface="Aptos"/>
              </a:rPr>
              <a:t>A simple, structured way to record transactions and generate statements.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4617720"/>
            <a:ext cx="530352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ptos"/>
              </a:rPr>
              <a:t>K. Rithwik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5047488"/>
            <a:ext cx="53035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CEDCE8"/>
                </a:solidFill>
                <a:latin typeface="Aptos"/>
              </a:rPr>
              <a:t>Roll No. 2620040124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6236208"/>
            <a:ext cx="49377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A4BED0"/>
                </a:solidFill>
                <a:latin typeface="Aptos"/>
              </a:rPr>
              <a:t>PROBLEM SOLVING USING PROGRAMMING (JAVA)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44200" y="6236208"/>
            <a:ext cx="7315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A4BED0"/>
                </a:solidFill>
                <a:latin typeface="Aptos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570750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1F8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27632" y="347472"/>
            <a:ext cx="9966960" cy="5303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4233D"/>
                </a:solidFill>
                <a:latin typeface="Aptos"/>
              </a:rPr>
              <a:t>Abstract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1024128"/>
            <a:ext cx="658368" cy="41148"/>
          </a:xfrm>
          <a:prstGeom prst="rect">
            <a:avLst/>
          </a:prstGeom>
          <a:solidFill>
            <a:srgbClr val="DEA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41148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67484"/>
                </a:solidFill>
                <a:latin typeface="Aptos"/>
              </a:rPr>
              <a:t>K. Rithwik  •  2620040124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92240"/>
            <a:ext cx="64008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1F8B85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353312"/>
            <a:ext cx="6446520" cy="6400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t>A simple Java program for keeping personal money records organized.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048256"/>
            <a:ext cx="6400800" cy="11704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t>Users can enter deposits and withdrawals with the date, description and amount. The program checks the entries, updates the balance and displays a clear transaction statement.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1389888"/>
            <a:ext cx="3794760" cy="11247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543800" y="1389888"/>
            <a:ext cx="64008" cy="1124712"/>
          </a:xfrm>
          <a:prstGeom prst="rect">
            <a:avLst/>
          </a:prstGeom>
          <a:solidFill>
            <a:srgbClr val="1F8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44968" y="1536192"/>
            <a:ext cx="3447288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3D"/>
                </a:solidFill>
                <a:latin typeface="Aptos"/>
              </a:rPr>
              <a:t>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1920240"/>
            <a:ext cx="3429000" cy="50291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C3848"/>
                </a:solidFill>
                <a:latin typeface="Aptos"/>
              </a:rPr>
              <a:t>Date • Description • Type • Amount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2688336"/>
            <a:ext cx="3794760" cy="11247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543800" y="2688336"/>
            <a:ext cx="64008" cy="1124712"/>
          </a:xfrm>
          <a:prstGeom prst="rect">
            <a:avLst/>
          </a:prstGeom>
          <a:solidFill>
            <a:srgbClr val="DEA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44968" y="2834640"/>
            <a:ext cx="3447288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3D"/>
                </a:solidFill>
                <a:latin typeface="Aptos"/>
              </a:rPr>
              <a:t>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4968" y="3218688"/>
            <a:ext cx="3429000" cy="50291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C3848"/>
                </a:solidFill>
                <a:latin typeface="Aptos"/>
              </a:rPr>
              <a:t>Validate, store, sort and summarize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43800" y="3986784"/>
            <a:ext cx="3794760" cy="11247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543800" y="3986784"/>
            <a:ext cx="64008" cy="1124712"/>
          </a:xfrm>
          <a:prstGeom prst="rect">
            <a:avLst/>
          </a:prstGeom>
          <a:solidFill>
            <a:srgbClr val="328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44968" y="4133088"/>
            <a:ext cx="3447288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3D"/>
                </a:solidFill>
                <a:latin typeface="Aptos"/>
              </a:rPr>
              <a:t>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44968" y="4517136"/>
            <a:ext cx="3429000" cy="50291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C3848"/>
                </a:solidFill>
                <a:latin typeface="Aptos"/>
              </a:rPr>
              <a:t>Ledger view • Balance • Statement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6384" y="3675887"/>
            <a:ext cx="1600200" cy="292608"/>
          </a:xfrm>
          <a:prstGeom prst="roundRect">
            <a:avLst/>
          </a:prstGeom>
          <a:solidFill>
            <a:srgbClr val="E0F3EF"/>
          </a:solidFill>
          <a:ln w="10160">
            <a:solidFill>
              <a:srgbClr val="E0F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3689603"/>
            <a:ext cx="1527048" cy="24688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F8B85"/>
                </a:solidFill>
                <a:latin typeface="Aptos"/>
              </a:rPr>
              <a:t>PROJECT GOAL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4114800"/>
            <a:ext cx="6080760" cy="1143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t>Make it easier to track money received, money spent and the remaining balance.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5623560"/>
            <a:ext cx="608076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667484"/>
                </a:solidFill>
                <a:latin typeface="Aptos"/>
              </a:rPr>
              <a:t>Sample figures are illustrative only.</a:t>
            </a:r>
          </a:p>
        </p:txBody>
      </p:sp>
    </p:spTree>
    <p:extLst>
      <p:ext uri="{BB962C8B-B14F-4D97-AF65-F5344CB8AC3E}">
        <p14:creationId xmlns:p14="http://schemas.microsoft.com/office/powerpoint/2010/main" val="676338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1F8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27632" y="347472"/>
            <a:ext cx="9966960" cy="5303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4233D"/>
                </a:solidFill>
                <a:latin typeface="Aptos"/>
              </a:rPr>
              <a:t>Understanding the Problem Statement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1024128"/>
            <a:ext cx="658368" cy="41148"/>
          </a:xfrm>
          <a:prstGeom prst="rect">
            <a:avLst/>
          </a:prstGeom>
          <a:solidFill>
            <a:srgbClr val="DEA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41148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67484"/>
                </a:solidFill>
                <a:latin typeface="Aptos"/>
              </a:rPr>
              <a:t>K. Rithwik  •  2620040124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92240"/>
            <a:ext cx="64008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1F8B85"/>
                </a:solidFill>
                <a:latin typeface="Aptos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298448"/>
            <a:ext cx="1060704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4233D"/>
                </a:solidFill>
                <a:latin typeface="Aptos"/>
              </a:rP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773936"/>
            <a:ext cx="10332720" cy="7315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C3848"/>
                </a:solidFill>
                <a:latin typeface="Aptos"/>
              </a:rPr>
              <a:t>Manual records are hard to search and summarize. A ledger tool keeps transactions organized and balances easy to verify.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788920"/>
            <a:ext cx="3401568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49808" y="2788920"/>
            <a:ext cx="64008" cy="1508760"/>
          </a:xfrm>
          <a:prstGeom prst="rect">
            <a:avLst/>
          </a:prstGeom>
          <a:solidFill>
            <a:srgbClr val="1F8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50976" y="2935224"/>
            <a:ext cx="305409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3D"/>
                </a:solidFill>
                <a:latin typeface="Aptos"/>
              </a:rPr>
              <a:t>01  Record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3319272"/>
            <a:ext cx="3035808" cy="88696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C3848"/>
                </a:solidFill>
                <a:latin typeface="Aptos"/>
              </a:rPr>
              <a:t>Record deposits and withdrawals with date, details and amount.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2788920"/>
            <a:ext cx="3401568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89120" y="2788920"/>
            <a:ext cx="64008" cy="1508760"/>
          </a:xfrm>
          <a:prstGeom prst="rect">
            <a:avLst/>
          </a:prstGeom>
          <a:solidFill>
            <a:srgbClr val="DEA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90288" y="2935224"/>
            <a:ext cx="305409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3D"/>
                </a:solidFill>
                <a:latin typeface="Aptos"/>
              </a:rPr>
              <a:t>02  Calculate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3319272"/>
            <a:ext cx="3035808" cy="88696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C3848"/>
                </a:solidFill>
                <a:latin typeface="Aptos"/>
              </a:rPr>
              <a:t>Update and display the running balance.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28431" y="2788920"/>
            <a:ext cx="3401568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28431" y="2788920"/>
            <a:ext cx="64008" cy="1508760"/>
          </a:xfrm>
          <a:prstGeom prst="rect">
            <a:avLst/>
          </a:prstGeom>
          <a:solidFill>
            <a:srgbClr val="328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0" y="2935224"/>
            <a:ext cx="305409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3D"/>
                </a:solidFill>
                <a:latin typeface="Aptos"/>
              </a:rPr>
              <a:t>03 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319272"/>
            <a:ext cx="3035808" cy="88696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C3848"/>
                </a:solidFill>
                <a:latin typeface="Aptos"/>
              </a:rPr>
              <a:t>Show transaction history and generate statements.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4681728"/>
            <a:ext cx="10680192" cy="960120"/>
          </a:xfrm>
          <a:prstGeom prst="roundRect">
            <a:avLst/>
          </a:prstGeom>
          <a:solidFill>
            <a:srgbClr val="E0F3EF"/>
          </a:solidFill>
          <a:ln w="10160">
            <a:solidFill>
              <a:srgbClr val="E0F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87552" y="4901184"/>
            <a:ext cx="18288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F8B85"/>
                </a:solidFill>
                <a:latin typeface="Aptos"/>
              </a:rPr>
              <a:t>PROJECT OBJECTIVE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846320"/>
            <a:ext cx="8229600" cy="5120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D"/>
                </a:solidFill>
                <a:latin typeface="Aptos"/>
              </a:rPr>
              <a:t>Build a menu-driven Java program with validation and file storage.</a:t>
            </a:r>
          </a:p>
        </p:txBody>
      </p:sp>
    </p:spTree>
    <p:extLst>
      <p:ext uri="{BB962C8B-B14F-4D97-AF65-F5344CB8AC3E}">
        <p14:creationId xmlns:p14="http://schemas.microsoft.com/office/powerpoint/2010/main" val="3980090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1F8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27632" y="347472"/>
            <a:ext cx="9966960" cy="5303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4233D"/>
                </a:solidFill>
                <a:latin typeface="Aptos"/>
              </a:rPr>
              <a:t>CO 1 — Problem Solving &amp; Java Fundamentals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1024128"/>
            <a:ext cx="658368" cy="41148"/>
          </a:xfrm>
          <a:prstGeom prst="rect">
            <a:avLst/>
          </a:prstGeom>
          <a:solidFill>
            <a:srgbClr val="DEA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41148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67484"/>
                </a:solidFill>
                <a:latin typeface="Aptos"/>
              </a:rPr>
              <a:t>K. Rithwik  •  2620040124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92240"/>
            <a:ext cx="64008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1F8B85"/>
                </a:solidFill>
                <a:latin typeface="Aptos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280160"/>
            <a:ext cx="1056132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C3848"/>
                </a:solidFill>
                <a:latin typeface="Aptos"/>
              </a:rPr>
              <a:t>Use Java variables, expressions and console input to solve the ledger problem.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176272"/>
            <a:ext cx="3401568" cy="208483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49808" y="2176272"/>
            <a:ext cx="64008" cy="2084831"/>
          </a:xfrm>
          <a:prstGeom prst="rect">
            <a:avLst/>
          </a:prstGeom>
          <a:solidFill>
            <a:srgbClr val="1F8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50976" y="2322576"/>
            <a:ext cx="305409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3D"/>
                </a:solidFill>
                <a:latin typeface="Aptos"/>
              </a:rPr>
              <a:t>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2706624"/>
            <a:ext cx="3035808" cy="146303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C3848"/>
                </a:solidFill>
                <a:latin typeface="Aptos"/>
              </a:rPr>
              <a:t>Transaction date, description, type and amount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176272"/>
            <a:ext cx="3401568" cy="208483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89120" y="2176272"/>
            <a:ext cx="64008" cy="2084831"/>
          </a:xfrm>
          <a:prstGeom prst="rect">
            <a:avLst/>
          </a:prstGeom>
          <a:solidFill>
            <a:srgbClr val="DEA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90288" y="2322576"/>
            <a:ext cx="305409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3D"/>
                </a:solidFill>
                <a:latin typeface="Aptos"/>
              </a:rPr>
              <a:t>Algorithm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2706624"/>
            <a:ext cx="3035808" cy="146303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C3848"/>
                </a:solidFill>
                <a:latin typeface="Aptos"/>
              </a:rPr>
              <a:t>Read → validate → process → display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8431" y="2176272"/>
            <a:ext cx="3401568" cy="208483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28431" y="2176272"/>
            <a:ext cx="64008" cy="2084831"/>
          </a:xfrm>
          <a:prstGeom prst="rect">
            <a:avLst/>
          </a:prstGeom>
          <a:solidFill>
            <a:srgbClr val="328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0" y="2322576"/>
            <a:ext cx="305409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3D"/>
                </a:solidFill>
                <a:latin typeface="Aptos"/>
              </a:rPr>
              <a:t>Java basics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706624"/>
            <a:ext cx="3035808" cy="146303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C3848"/>
                </a:solidFill>
                <a:latin typeface="Aptos"/>
              </a:rPr>
              <a:t>Primitive types, operators, Scanner and formatted 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4617720"/>
            <a:ext cx="18288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F8B85"/>
                </a:solidFill>
                <a:latin typeface="Aptos"/>
              </a:rPr>
              <a:t>HOW IT APPLIES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4965192"/>
            <a:ext cx="10680192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78992" y="5157216"/>
            <a:ext cx="1417320" cy="310896"/>
          </a:xfrm>
          <a:prstGeom prst="roundRect">
            <a:avLst/>
          </a:prstGeom>
          <a:solidFill>
            <a:srgbClr val="E0F3E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15568" y="5184648"/>
            <a:ext cx="1344168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8B85"/>
                </a:solidFill>
                <a:latin typeface="Aptos"/>
              </a:rPr>
              <a:t>Capture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60904" y="5175504"/>
            <a:ext cx="594360" cy="2286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DEAD4B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85032" y="5157216"/>
            <a:ext cx="1417320" cy="310896"/>
          </a:xfrm>
          <a:prstGeom prst="roundRect">
            <a:avLst/>
          </a:prstGeom>
          <a:solidFill>
            <a:srgbClr val="EFF4F8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721608" y="5184648"/>
            <a:ext cx="1344168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33D"/>
                </a:solidFill>
                <a:latin typeface="Aptos"/>
              </a:rPr>
              <a:t>Validate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66944" y="5175504"/>
            <a:ext cx="594360" cy="2286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DEAD4B"/>
                </a:solidFill>
                <a:latin typeface="Aptos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91072" y="5157216"/>
            <a:ext cx="1417320" cy="310896"/>
          </a:xfrm>
          <a:prstGeom prst="roundRect">
            <a:avLst/>
          </a:prstGeom>
          <a:solidFill>
            <a:srgbClr val="E0F3E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27648" y="5184648"/>
            <a:ext cx="1344168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8B85"/>
                </a:solidFill>
                <a:latin typeface="Aptos"/>
              </a:rPr>
              <a:t>Process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72983" y="5175504"/>
            <a:ext cx="594360" cy="2286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DEAD4B"/>
                </a:solidFill>
                <a:latin typeface="Aptos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97112" y="5157216"/>
            <a:ext cx="1417320" cy="310896"/>
          </a:xfrm>
          <a:prstGeom prst="roundRect">
            <a:avLst/>
          </a:prstGeom>
          <a:solidFill>
            <a:srgbClr val="EFF4F8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933688" y="5184648"/>
            <a:ext cx="1344168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33D"/>
                </a:solidFill>
                <a:latin typeface="Aptos"/>
              </a:rPr>
              <a:t>Report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" y="5879592"/>
            <a:ext cx="1046988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667484"/>
                </a:solidFill>
                <a:latin typeface="Aptos"/>
              </a:rPr>
              <a:t>CO1: Analyze a problem and implement its algorithm in Java.</a:t>
            </a:r>
          </a:p>
        </p:txBody>
      </p:sp>
    </p:spTree>
    <p:extLst>
      <p:ext uri="{BB962C8B-B14F-4D97-AF65-F5344CB8AC3E}">
        <p14:creationId xmlns:p14="http://schemas.microsoft.com/office/powerpoint/2010/main" val="4104242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1F8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27632" y="347472"/>
            <a:ext cx="9966960" cy="5303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4233D"/>
                </a:solidFill>
                <a:latin typeface="Aptos"/>
              </a:rPr>
              <a:t>CO 2 — Control Flow: Selection &amp; Iteration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1024128"/>
            <a:ext cx="658368" cy="41148"/>
          </a:xfrm>
          <a:prstGeom prst="rect">
            <a:avLst/>
          </a:prstGeom>
          <a:solidFill>
            <a:srgbClr val="DEA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41148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67484"/>
                </a:solidFill>
                <a:latin typeface="Aptos"/>
              </a:rPr>
              <a:t>K. Rithwik  •  2620040124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92240"/>
            <a:ext cx="64008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1F8B85"/>
                </a:solidFill>
                <a:latin typeface="Aptos"/>
              </a:rP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280160"/>
            <a:ext cx="1056132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C3848"/>
                </a:solidFill>
                <a:latin typeface="Aptos"/>
              </a:rPr>
              <a:t>Use decisions and loops for menus and validation.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176272"/>
            <a:ext cx="3401568" cy="208483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49808" y="2176272"/>
            <a:ext cx="64008" cy="2084831"/>
          </a:xfrm>
          <a:prstGeom prst="rect">
            <a:avLst/>
          </a:prstGeom>
          <a:solidFill>
            <a:srgbClr val="1F8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50976" y="2322576"/>
            <a:ext cx="305409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3D"/>
                </a:solidFill>
                <a:latin typeface="Aptos"/>
              </a:rPr>
              <a:t>Menu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2706624"/>
            <a:ext cx="3035808" cy="146303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C3848"/>
                </a:solidFill>
                <a:latin typeface="Aptos"/>
              </a:rPr>
              <a:t>Add transaction • View ledger • Generate statement • Exit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176272"/>
            <a:ext cx="3401568" cy="208483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89120" y="2176272"/>
            <a:ext cx="64008" cy="2084831"/>
          </a:xfrm>
          <a:prstGeom prst="rect">
            <a:avLst/>
          </a:prstGeom>
          <a:solidFill>
            <a:srgbClr val="DEA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90288" y="2322576"/>
            <a:ext cx="305409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3D"/>
                </a:solidFill>
                <a:latin typeface="Aptos"/>
              </a:rPr>
              <a:t>Decisions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2706624"/>
            <a:ext cx="3035808" cy="146303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C3848"/>
                </a:solidFill>
                <a:latin typeface="Aptos"/>
              </a:rPr>
              <a:t>Select deposit or withdrawal; reject invalid amounts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8431" y="2176272"/>
            <a:ext cx="3401568" cy="208483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28431" y="2176272"/>
            <a:ext cx="64008" cy="2084831"/>
          </a:xfrm>
          <a:prstGeom prst="rect">
            <a:avLst/>
          </a:prstGeom>
          <a:solidFill>
            <a:srgbClr val="328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0" y="2322576"/>
            <a:ext cx="305409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3D"/>
                </a:solidFill>
                <a:latin typeface="Aptos"/>
              </a:rPr>
              <a:t>Loops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706624"/>
            <a:ext cx="3035808" cy="146303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C3848"/>
                </a:solidFill>
                <a:latin typeface="Aptos"/>
              </a:rPr>
              <a:t>Repeat menu until the user chooses to exit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4617720"/>
            <a:ext cx="18288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F8B85"/>
                </a:solidFill>
                <a:latin typeface="Aptos"/>
              </a:rPr>
              <a:t>HOW IT APPLIES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4965192"/>
            <a:ext cx="10680192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78992" y="5157216"/>
            <a:ext cx="1417320" cy="310896"/>
          </a:xfrm>
          <a:prstGeom prst="roundRect">
            <a:avLst/>
          </a:prstGeom>
          <a:solidFill>
            <a:srgbClr val="E0F3E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15568" y="5184648"/>
            <a:ext cx="1344168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8B85"/>
                </a:solidFill>
                <a:latin typeface="Aptos"/>
              </a:rPr>
              <a:t>Capture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60904" y="5175504"/>
            <a:ext cx="594360" cy="2286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DEAD4B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85032" y="5157216"/>
            <a:ext cx="1417320" cy="310896"/>
          </a:xfrm>
          <a:prstGeom prst="roundRect">
            <a:avLst/>
          </a:prstGeom>
          <a:solidFill>
            <a:srgbClr val="EFF4F8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721608" y="5184648"/>
            <a:ext cx="1344168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33D"/>
                </a:solidFill>
                <a:latin typeface="Aptos"/>
              </a:rPr>
              <a:t>Validate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66944" y="5175504"/>
            <a:ext cx="594360" cy="2286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DEAD4B"/>
                </a:solidFill>
                <a:latin typeface="Aptos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91072" y="5157216"/>
            <a:ext cx="1417320" cy="310896"/>
          </a:xfrm>
          <a:prstGeom prst="roundRect">
            <a:avLst/>
          </a:prstGeom>
          <a:solidFill>
            <a:srgbClr val="E0F3E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27648" y="5184648"/>
            <a:ext cx="1344168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8B85"/>
                </a:solidFill>
                <a:latin typeface="Aptos"/>
              </a:rPr>
              <a:t>Process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72983" y="5175504"/>
            <a:ext cx="594360" cy="2286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DEAD4B"/>
                </a:solidFill>
                <a:latin typeface="Aptos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97112" y="5157216"/>
            <a:ext cx="1417320" cy="310896"/>
          </a:xfrm>
          <a:prstGeom prst="roundRect">
            <a:avLst/>
          </a:prstGeom>
          <a:solidFill>
            <a:srgbClr val="EFF4F8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933688" y="5184648"/>
            <a:ext cx="1344168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33D"/>
                </a:solidFill>
                <a:latin typeface="Aptos"/>
              </a:rPr>
              <a:t>Report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" y="5879592"/>
            <a:ext cx="1046988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667484"/>
                </a:solidFill>
                <a:latin typeface="Aptos"/>
              </a:rPr>
              <a:t>CO2: Apply selection and iteration constructs.</a:t>
            </a:r>
          </a:p>
        </p:txBody>
      </p:sp>
    </p:spTree>
    <p:extLst>
      <p:ext uri="{BB962C8B-B14F-4D97-AF65-F5344CB8AC3E}">
        <p14:creationId xmlns:p14="http://schemas.microsoft.com/office/powerpoint/2010/main" val="4178111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1F8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27632" y="347472"/>
            <a:ext cx="9966960" cy="5303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4233D"/>
                </a:solidFill>
                <a:latin typeface="Aptos"/>
              </a:rPr>
              <a:t>CO 3 — Methods, Recursion &amp; Arrays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1024128"/>
            <a:ext cx="658368" cy="41148"/>
          </a:xfrm>
          <a:prstGeom prst="rect">
            <a:avLst/>
          </a:prstGeom>
          <a:solidFill>
            <a:srgbClr val="DEA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41148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67484"/>
                </a:solidFill>
                <a:latin typeface="Aptos"/>
              </a:rPr>
              <a:t>K. Rithwik  •  2620040124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92240"/>
            <a:ext cx="64008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1F8B85"/>
                </a:solidFill>
                <a:latin typeface="Aptos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280160"/>
            <a:ext cx="1056132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C3848"/>
                </a:solidFill>
                <a:latin typeface="Aptos"/>
              </a:rPr>
              <a:t>Use reusable methods to process transaction records.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176272"/>
            <a:ext cx="3401568" cy="208483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49808" y="2176272"/>
            <a:ext cx="64008" cy="2084831"/>
          </a:xfrm>
          <a:prstGeom prst="rect">
            <a:avLst/>
          </a:prstGeom>
          <a:solidFill>
            <a:srgbClr val="1F8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50976" y="2322576"/>
            <a:ext cx="305409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3D"/>
                </a:solidFill>
                <a:latin typeface="Aptos"/>
              </a:rPr>
              <a:t>Methods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2706624"/>
            <a:ext cx="3035808" cy="146303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C3848"/>
                </a:solidFill>
                <a:latin typeface="Aptos"/>
              </a:rPr>
              <a:t>addTransaction(), calculateBalance(), printStatement()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176272"/>
            <a:ext cx="3401568" cy="208483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89120" y="2176272"/>
            <a:ext cx="64008" cy="2084831"/>
          </a:xfrm>
          <a:prstGeom prst="rect">
            <a:avLst/>
          </a:prstGeom>
          <a:solidFill>
            <a:srgbClr val="DEA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90288" y="2322576"/>
            <a:ext cx="305409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3D"/>
                </a:solidFill>
                <a:latin typeface="Aptos"/>
              </a:rPr>
              <a:t>Arrays / lists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2706624"/>
            <a:ext cx="3035808" cy="146303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C3848"/>
                </a:solidFill>
                <a:latin typeface="Aptos"/>
              </a:rPr>
              <a:t>Store and traverse transaction records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8431" y="2176272"/>
            <a:ext cx="3401568" cy="208483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28431" y="2176272"/>
            <a:ext cx="64008" cy="2084831"/>
          </a:xfrm>
          <a:prstGeom prst="rect">
            <a:avLst/>
          </a:prstGeom>
          <a:solidFill>
            <a:srgbClr val="328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0" y="2322576"/>
            <a:ext cx="305409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3D"/>
                </a:solidFill>
                <a:latin typeface="Aptos"/>
              </a:rPr>
              <a:t>Processing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706624"/>
            <a:ext cx="3035808" cy="146303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C3848"/>
                </a:solidFill>
                <a:latin typeface="Aptos"/>
              </a:rPr>
              <a:t>Count entries, total deposits and total withdrawals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4617720"/>
            <a:ext cx="18288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F8B85"/>
                </a:solidFill>
                <a:latin typeface="Aptos"/>
              </a:rPr>
              <a:t>HOW IT APPLIES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4965192"/>
            <a:ext cx="10680192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78992" y="5157216"/>
            <a:ext cx="1417320" cy="310896"/>
          </a:xfrm>
          <a:prstGeom prst="roundRect">
            <a:avLst/>
          </a:prstGeom>
          <a:solidFill>
            <a:srgbClr val="E0F3E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15568" y="5184648"/>
            <a:ext cx="1344168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8B85"/>
                </a:solidFill>
                <a:latin typeface="Aptos"/>
              </a:rPr>
              <a:t>Capture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60904" y="5175504"/>
            <a:ext cx="594360" cy="2286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DEAD4B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85032" y="5157216"/>
            <a:ext cx="1417320" cy="310896"/>
          </a:xfrm>
          <a:prstGeom prst="roundRect">
            <a:avLst/>
          </a:prstGeom>
          <a:solidFill>
            <a:srgbClr val="EFF4F8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721608" y="5184648"/>
            <a:ext cx="1344168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33D"/>
                </a:solidFill>
                <a:latin typeface="Aptos"/>
              </a:rPr>
              <a:t>Validate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66944" y="5175504"/>
            <a:ext cx="594360" cy="2286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DEAD4B"/>
                </a:solidFill>
                <a:latin typeface="Aptos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91072" y="5157216"/>
            <a:ext cx="1417320" cy="310896"/>
          </a:xfrm>
          <a:prstGeom prst="roundRect">
            <a:avLst/>
          </a:prstGeom>
          <a:solidFill>
            <a:srgbClr val="E0F3E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27648" y="5184648"/>
            <a:ext cx="1344168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8B85"/>
                </a:solidFill>
                <a:latin typeface="Aptos"/>
              </a:rPr>
              <a:t>Process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72983" y="5175504"/>
            <a:ext cx="594360" cy="2286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DEAD4B"/>
                </a:solidFill>
                <a:latin typeface="Aptos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97112" y="5157216"/>
            <a:ext cx="1417320" cy="310896"/>
          </a:xfrm>
          <a:prstGeom prst="roundRect">
            <a:avLst/>
          </a:prstGeom>
          <a:solidFill>
            <a:srgbClr val="EFF4F8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933688" y="5184648"/>
            <a:ext cx="1344168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33D"/>
                </a:solidFill>
                <a:latin typeface="Aptos"/>
              </a:rPr>
              <a:t>Report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" y="5879592"/>
            <a:ext cx="1046988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667484"/>
                </a:solidFill>
                <a:latin typeface="Aptos"/>
              </a:rPr>
              <a:t>CO3: Modularize code and process arrays or lists.</a:t>
            </a:r>
          </a:p>
        </p:txBody>
      </p:sp>
    </p:spTree>
    <p:extLst>
      <p:ext uri="{BB962C8B-B14F-4D97-AF65-F5344CB8AC3E}">
        <p14:creationId xmlns:p14="http://schemas.microsoft.com/office/powerpoint/2010/main" val="1869875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1F8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27632" y="347472"/>
            <a:ext cx="9966960" cy="5303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4233D"/>
                </a:solidFill>
                <a:latin typeface="Aptos"/>
              </a:rPr>
              <a:t>CO 4 — Object-Oriented Design &amp; Exceptions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1024128"/>
            <a:ext cx="658368" cy="41148"/>
          </a:xfrm>
          <a:prstGeom prst="rect">
            <a:avLst/>
          </a:prstGeom>
          <a:solidFill>
            <a:srgbClr val="DEA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41148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67484"/>
                </a:solidFill>
                <a:latin typeface="Aptos"/>
              </a:rPr>
              <a:t>K. Rithwik  •  2620040124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92240"/>
            <a:ext cx="64008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1F8B85"/>
                </a:solidFill>
                <a:latin typeface="Aptos"/>
              </a:rPr>
              <a:t>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280160"/>
            <a:ext cx="1056132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C3848"/>
                </a:solidFill>
                <a:latin typeface="Aptos"/>
              </a:rPr>
              <a:t>Model transactions with classes and handle invalid operations safely.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176272"/>
            <a:ext cx="3401568" cy="208483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49808" y="2176272"/>
            <a:ext cx="64008" cy="2084831"/>
          </a:xfrm>
          <a:prstGeom prst="rect">
            <a:avLst/>
          </a:prstGeom>
          <a:solidFill>
            <a:srgbClr val="1F8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50976" y="2322576"/>
            <a:ext cx="305409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3D"/>
                </a:solidFill>
                <a:latin typeface="Aptos"/>
              </a:rPr>
              <a:t>Classes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2706624"/>
            <a:ext cx="3035808" cy="146303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C3848"/>
                </a:solidFill>
                <a:latin typeface="Aptos"/>
              </a:rPr>
              <a:t>Transaction and BankLedger model the domain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176272"/>
            <a:ext cx="3401568" cy="208483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89120" y="2176272"/>
            <a:ext cx="64008" cy="2084831"/>
          </a:xfrm>
          <a:prstGeom prst="rect">
            <a:avLst/>
          </a:prstGeom>
          <a:solidFill>
            <a:srgbClr val="DEA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90288" y="2322576"/>
            <a:ext cx="305409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3D"/>
                </a:solidFill>
                <a:latin typeface="Aptos"/>
              </a:rPr>
              <a:t>Encapsulation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2706624"/>
            <a:ext cx="3035808" cy="146303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C3848"/>
                </a:solidFill>
                <a:latin typeface="Aptos"/>
              </a:rPr>
              <a:t>Keep fields private; expose safe methods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8431" y="2176272"/>
            <a:ext cx="3401568" cy="208483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28431" y="2176272"/>
            <a:ext cx="64008" cy="2084831"/>
          </a:xfrm>
          <a:prstGeom prst="rect">
            <a:avLst/>
          </a:prstGeom>
          <a:solidFill>
            <a:srgbClr val="328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0" y="2322576"/>
            <a:ext cx="305409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3D"/>
                </a:solidFill>
                <a:latin typeface="Aptos"/>
              </a:rPr>
              <a:t>Exceptions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706624"/>
            <a:ext cx="3035808" cy="146303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C3848"/>
                </a:solidFill>
                <a:latin typeface="Aptos"/>
              </a:rPr>
              <a:t>Handle invalid input and file errors gracefully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4617720"/>
            <a:ext cx="18288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F8B85"/>
                </a:solidFill>
                <a:latin typeface="Aptos"/>
              </a:rPr>
              <a:t>HOW IT APPLIES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4965192"/>
            <a:ext cx="10680192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78992" y="5157216"/>
            <a:ext cx="1417320" cy="310896"/>
          </a:xfrm>
          <a:prstGeom prst="roundRect">
            <a:avLst/>
          </a:prstGeom>
          <a:solidFill>
            <a:srgbClr val="E0F3E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15568" y="5184648"/>
            <a:ext cx="1344168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8B85"/>
                </a:solidFill>
                <a:latin typeface="Aptos"/>
              </a:rPr>
              <a:t>Capture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60904" y="5175504"/>
            <a:ext cx="594360" cy="2286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DEAD4B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85032" y="5157216"/>
            <a:ext cx="1417320" cy="310896"/>
          </a:xfrm>
          <a:prstGeom prst="roundRect">
            <a:avLst/>
          </a:prstGeom>
          <a:solidFill>
            <a:srgbClr val="EFF4F8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721608" y="5184648"/>
            <a:ext cx="1344168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33D"/>
                </a:solidFill>
                <a:latin typeface="Aptos"/>
              </a:rPr>
              <a:t>Validate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66944" y="5175504"/>
            <a:ext cx="594360" cy="2286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DEAD4B"/>
                </a:solidFill>
                <a:latin typeface="Aptos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91072" y="5157216"/>
            <a:ext cx="1417320" cy="310896"/>
          </a:xfrm>
          <a:prstGeom prst="roundRect">
            <a:avLst/>
          </a:prstGeom>
          <a:solidFill>
            <a:srgbClr val="E0F3E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27648" y="5184648"/>
            <a:ext cx="1344168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8B85"/>
                </a:solidFill>
                <a:latin typeface="Aptos"/>
              </a:rPr>
              <a:t>Process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72983" y="5175504"/>
            <a:ext cx="594360" cy="2286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DEAD4B"/>
                </a:solidFill>
                <a:latin typeface="Aptos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97112" y="5157216"/>
            <a:ext cx="1417320" cy="310896"/>
          </a:xfrm>
          <a:prstGeom prst="roundRect">
            <a:avLst/>
          </a:prstGeom>
          <a:solidFill>
            <a:srgbClr val="EFF4F8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933688" y="5184648"/>
            <a:ext cx="1344168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33D"/>
                </a:solidFill>
                <a:latin typeface="Aptos"/>
              </a:rPr>
              <a:t>Report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" y="5879592"/>
            <a:ext cx="1046988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667484"/>
                </a:solidFill>
                <a:latin typeface="Aptos"/>
              </a:rPr>
              <a:t>CO4: Apply OOP concepts and exception handling.</a:t>
            </a:r>
          </a:p>
        </p:txBody>
      </p:sp>
    </p:spTree>
    <p:extLst>
      <p:ext uri="{BB962C8B-B14F-4D97-AF65-F5344CB8AC3E}">
        <p14:creationId xmlns:p14="http://schemas.microsoft.com/office/powerpoint/2010/main" val="2034974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1F8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27632" y="347472"/>
            <a:ext cx="9966960" cy="5303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4233D"/>
                </a:solidFill>
                <a:latin typeface="Aptos"/>
              </a:rPr>
              <a:t>CO 5 — Strings, Algorithms &amp; File I/O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1024128"/>
            <a:ext cx="658368" cy="41148"/>
          </a:xfrm>
          <a:prstGeom prst="rect">
            <a:avLst/>
          </a:prstGeom>
          <a:solidFill>
            <a:srgbClr val="DEA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41148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67484"/>
                </a:solidFill>
                <a:latin typeface="Aptos"/>
              </a:rPr>
              <a:t>K. Rithwik  •  2620040124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92240"/>
            <a:ext cx="64008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1F8B85"/>
                </a:solidFill>
                <a:latin typeface="Aptos"/>
              </a:rPr>
              <a:t>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280160"/>
            <a:ext cx="1056132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C3848"/>
                </a:solidFill>
                <a:latin typeface="Aptos"/>
              </a:rPr>
              <a:t>Validate text and save records for later use.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176272"/>
            <a:ext cx="3401568" cy="208483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49808" y="2176272"/>
            <a:ext cx="64008" cy="2084831"/>
          </a:xfrm>
          <a:prstGeom prst="rect">
            <a:avLst/>
          </a:prstGeom>
          <a:solidFill>
            <a:srgbClr val="1F8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50976" y="2322576"/>
            <a:ext cx="305409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3D"/>
                </a:solidFill>
                <a:latin typeface="Aptos"/>
              </a:rPr>
              <a:t>String handling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2706624"/>
            <a:ext cx="3035808" cy="146303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C3848"/>
                </a:solidFill>
                <a:latin typeface="Aptos"/>
              </a:rPr>
              <a:t>Trim descriptions; validate dates and transaction types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176272"/>
            <a:ext cx="3401568" cy="208483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89120" y="2176272"/>
            <a:ext cx="64008" cy="2084831"/>
          </a:xfrm>
          <a:prstGeom prst="rect">
            <a:avLst/>
          </a:prstGeom>
          <a:solidFill>
            <a:srgbClr val="DEA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90288" y="2322576"/>
            <a:ext cx="305409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3D"/>
                </a:solidFill>
                <a:latin typeface="Aptos"/>
              </a:rPr>
              <a:t>Algorithms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2706624"/>
            <a:ext cx="3035808" cy="146303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C3848"/>
                </a:solidFill>
                <a:latin typeface="Aptos"/>
              </a:rPr>
              <a:t>Search records and sort by transaction date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8431" y="2176272"/>
            <a:ext cx="3401568" cy="208483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28431" y="2176272"/>
            <a:ext cx="64008" cy="2084831"/>
          </a:xfrm>
          <a:prstGeom prst="rect">
            <a:avLst/>
          </a:prstGeom>
          <a:solidFill>
            <a:srgbClr val="328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0" y="2322576"/>
            <a:ext cx="305409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3D"/>
                </a:solidFill>
                <a:latin typeface="Aptos"/>
              </a:rPr>
              <a:t>File I/O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706624"/>
            <a:ext cx="3035808" cy="146303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C3848"/>
                </a:solidFill>
                <a:latin typeface="Aptos"/>
              </a:rPr>
              <a:t>Read and write ledger records using Files / Path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4617720"/>
            <a:ext cx="18288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F8B85"/>
                </a:solidFill>
                <a:latin typeface="Aptos"/>
              </a:rPr>
              <a:t>HOW IT APPLIES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4965192"/>
            <a:ext cx="10680192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78992" y="5157216"/>
            <a:ext cx="1417320" cy="310896"/>
          </a:xfrm>
          <a:prstGeom prst="roundRect">
            <a:avLst/>
          </a:prstGeom>
          <a:solidFill>
            <a:srgbClr val="E0F3E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15568" y="5184648"/>
            <a:ext cx="1344168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8B85"/>
                </a:solidFill>
                <a:latin typeface="Aptos"/>
              </a:rPr>
              <a:t>Capture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60904" y="5175504"/>
            <a:ext cx="594360" cy="2286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DEAD4B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85032" y="5157216"/>
            <a:ext cx="1417320" cy="310896"/>
          </a:xfrm>
          <a:prstGeom prst="roundRect">
            <a:avLst/>
          </a:prstGeom>
          <a:solidFill>
            <a:srgbClr val="EFF4F8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721608" y="5184648"/>
            <a:ext cx="1344168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33D"/>
                </a:solidFill>
                <a:latin typeface="Aptos"/>
              </a:rPr>
              <a:t>Validate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66944" y="5175504"/>
            <a:ext cx="594360" cy="2286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DEAD4B"/>
                </a:solidFill>
                <a:latin typeface="Aptos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91072" y="5157216"/>
            <a:ext cx="1417320" cy="310896"/>
          </a:xfrm>
          <a:prstGeom prst="roundRect">
            <a:avLst/>
          </a:prstGeom>
          <a:solidFill>
            <a:srgbClr val="E0F3E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27648" y="5184648"/>
            <a:ext cx="1344168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8B85"/>
                </a:solidFill>
                <a:latin typeface="Aptos"/>
              </a:rPr>
              <a:t>Process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72983" y="5175504"/>
            <a:ext cx="594360" cy="2286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DEAD4B"/>
                </a:solidFill>
                <a:latin typeface="Aptos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97112" y="5157216"/>
            <a:ext cx="1417320" cy="310896"/>
          </a:xfrm>
          <a:prstGeom prst="roundRect">
            <a:avLst/>
          </a:prstGeom>
          <a:solidFill>
            <a:srgbClr val="EFF4F8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933688" y="5184648"/>
            <a:ext cx="1344168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33D"/>
                </a:solidFill>
                <a:latin typeface="Aptos"/>
              </a:rPr>
              <a:t>Report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" y="5879592"/>
            <a:ext cx="1046988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667484"/>
                </a:solidFill>
                <a:latin typeface="Aptos"/>
              </a:rPr>
              <a:t>CO5: Process strings, use algorithms and store data in files.</a:t>
            </a:r>
          </a:p>
        </p:txBody>
      </p:sp>
    </p:spTree>
    <p:extLst>
      <p:ext uri="{BB962C8B-B14F-4D97-AF65-F5344CB8AC3E}">
        <p14:creationId xmlns:p14="http://schemas.microsoft.com/office/powerpoint/2010/main" val="2377368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1F8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27632" y="347472"/>
            <a:ext cx="9966960" cy="5303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4233D"/>
                </a:solidFill>
                <a:latin typeface="Aptos"/>
              </a:rPr>
              <a:t>CO 6 — Collections, Lambdas &amp; Streams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1024128"/>
            <a:ext cx="658368" cy="41148"/>
          </a:xfrm>
          <a:prstGeom prst="rect">
            <a:avLst/>
          </a:prstGeom>
          <a:solidFill>
            <a:srgbClr val="DEA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41148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67484"/>
                </a:solidFill>
                <a:latin typeface="Aptos"/>
              </a:rPr>
              <a:t>K. Rithwik  •  2620040124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92240"/>
            <a:ext cx="64008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1F8B85"/>
                </a:solidFill>
                <a:latin typeface="Aptos"/>
              </a:rPr>
              <a:t>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280160"/>
            <a:ext cx="1056132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C3848"/>
                </a:solidFill>
                <a:latin typeface="Aptos"/>
              </a:rPr>
              <a:t>Use collections and streams to filter and summarize transactions.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176272"/>
            <a:ext cx="3401568" cy="208483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49808" y="2176272"/>
            <a:ext cx="64008" cy="2084831"/>
          </a:xfrm>
          <a:prstGeom prst="rect">
            <a:avLst/>
          </a:prstGeom>
          <a:solidFill>
            <a:srgbClr val="1F8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50976" y="2322576"/>
            <a:ext cx="305409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3D"/>
                </a:solidFill>
                <a:latin typeface="Aptos"/>
              </a:rPr>
              <a:t>Collections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2706624"/>
            <a:ext cx="3035808" cy="146303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C3848"/>
                </a:solidFill>
                <a:latin typeface="Aptos"/>
              </a:rPr>
              <a:t>ArrayList for ordered entries; Map for summaries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176272"/>
            <a:ext cx="3401568" cy="208483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89120" y="2176272"/>
            <a:ext cx="64008" cy="2084831"/>
          </a:xfrm>
          <a:prstGeom prst="rect">
            <a:avLst/>
          </a:prstGeom>
          <a:solidFill>
            <a:srgbClr val="DEA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90288" y="2322576"/>
            <a:ext cx="305409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3D"/>
                </a:solidFill>
                <a:latin typeface="Aptos"/>
              </a:rPr>
              <a:t>Stream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2706624"/>
            <a:ext cx="3035808" cy="146303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C3848"/>
                </a:solidFill>
                <a:latin typeface="Aptos"/>
              </a:rPr>
              <a:t>Filter by date/type, sort and collect results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8431" y="2176272"/>
            <a:ext cx="3401568" cy="208483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28431" y="2176272"/>
            <a:ext cx="64008" cy="2084831"/>
          </a:xfrm>
          <a:prstGeom prst="rect">
            <a:avLst/>
          </a:prstGeom>
          <a:solidFill>
            <a:srgbClr val="328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0" y="2322576"/>
            <a:ext cx="305409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3D"/>
                </a:solidFill>
                <a:latin typeface="Aptos"/>
              </a:rPr>
              <a:t>Reports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706624"/>
            <a:ext cx="3035808" cy="146303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C3848"/>
                </a:solidFill>
                <a:latin typeface="Aptos"/>
              </a:rPr>
              <a:t>Count transactions and aggregate deposits / withdrawals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4617720"/>
            <a:ext cx="18288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F8B85"/>
                </a:solidFill>
                <a:latin typeface="Aptos"/>
              </a:rPr>
              <a:t>HOW IT APPLIES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4965192"/>
            <a:ext cx="10680192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78992" y="5157216"/>
            <a:ext cx="1417320" cy="310896"/>
          </a:xfrm>
          <a:prstGeom prst="roundRect">
            <a:avLst/>
          </a:prstGeom>
          <a:solidFill>
            <a:srgbClr val="E0F3E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15568" y="5184648"/>
            <a:ext cx="1344168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8B85"/>
                </a:solidFill>
                <a:latin typeface="Aptos"/>
              </a:rPr>
              <a:t>Capture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60904" y="5175504"/>
            <a:ext cx="594360" cy="2286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DEAD4B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85032" y="5157216"/>
            <a:ext cx="1417320" cy="310896"/>
          </a:xfrm>
          <a:prstGeom prst="roundRect">
            <a:avLst/>
          </a:prstGeom>
          <a:solidFill>
            <a:srgbClr val="EFF4F8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721608" y="5184648"/>
            <a:ext cx="1344168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33D"/>
                </a:solidFill>
                <a:latin typeface="Aptos"/>
              </a:rPr>
              <a:t>Validate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66944" y="5175504"/>
            <a:ext cx="594360" cy="2286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DEAD4B"/>
                </a:solidFill>
                <a:latin typeface="Aptos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91072" y="5157216"/>
            <a:ext cx="1417320" cy="310896"/>
          </a:xfrm>
          <a:prstGeom prst="roundRect">
            <a:avLst/>
          </a:prstGeom>
          <a:solidFill>
            <a:srgbClr val="E0F3E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27648" y="5184648"/>
            <a:ext cx="1344168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8B85"/>
                </a:solidFill>
                <a:latin typeface="Aptos"/>
              </a:rPr>
              <a:t>Process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72983" y="5175504"/>
            <a:ext cx="594360" cy="2286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DEAD4B"/>
                </a:solidFill>
                <a:latin typeface="Aptos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97112" y="5157216"/>
            <a:ext cx="1417320" cy="310896"/>
          </a:xfrm>
          <a:prstGeom prst="roundRect">
            <a:avLst/>
          </a:prstGeom>
          <a:solidFill>
            <a:srgbClr val="EFF4F8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933688" y="5184648"/>
            <a:ext cx="1344168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33D"/>
                </a:solidFill>
                <a:latin typeface="Aptos"/>
              </a:rPr>
              <a:t>Report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" y="5879592"/>
            <a:ext cx="1046988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667484"/>
                </a:solidFill>
                <a:latin typeface="Aptos"/>
              </a:rPr>
              <a:t>CO6: Use collections, lambdas and streams to process data.</a:t>
            </a:r>
          </a:p>
        </p:txBody>
      </p:sp>
    </p:spTree>
    <p:extLst>
      <p:ext uri="{BB962C8B-B14F-4D97-AF65-F5344CB8AC3E}">
        <p14:creationId xmlns:p14="http://schemas.microsoft.com/office/powerpoint/2010/main" val="707117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1F8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27632" y="347472"/>
            <a:ext cx="9966960" cy="5303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4233D"/>
                </a:solidFill>
                <a:latin typeface="Aptos"/>
              </a:rPr>
              <a:t>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1024128"/>
            <a:ext cx="658368" cy="41148"/>
          </a:xfrm>
          <a:prstGeom prst="rect">
            <a:avLst/>
          </a:prstGeom>
          <a:solidFill>
            <a:srgbClr val="DEA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41148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67484"/>
                </a:solidFill>
                <a:latin typeface="Aptos"/>
              </a:rPr>
              <a:t>K. Rithwik  •  2620040124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92240"/>
            <a:ext cx="64008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1F8B85"/>
                </a:solidFill>
                <a:latin typeface="Aptos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344168"/>
            <a:ext cx="658368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4233D"/>
                </a:solidFill>
                <a:latin typeface="Aptos"/>
              </a:rPr>
              <a:t>A practical Java application built from core concepts.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011680"/>
            <a:ext cx="6492240" cy="9144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C3848"/>
                </a:solidFill>
                <a:latin typeface="Aptos"/>
              </a:rPr>
              <a:t>The application organizes transactions and generates statements using Java fundamentals, control flow, methods, OOP, file handling and collections.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1417320"/>
            <a:ext cx="3767328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543800" y="1417320"/>
            <a:ext cx="64008" cy="1024128"/>
          </a:xfrm>
          <a:prstGeom prst="rect">
            <a:avLst/>
          </a:prstGeom>
          <a:solidFill>
            <a:srgbClr val="1F8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44968" y="1563624"/>
            <a:ext cx="341985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3D"/>
                </a:solidFill>
                <a:latin typeface="Aptos"/>
              </a:rPr>
              <a:t>RELIABILITY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1947672"/>
            <a:ext cx="3401568" cy="40233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C3848"/>
                </a:solidFill>
                <a:latin typeface="Aptos"/>
              </a:rPr>
              <a:t>Validate entries and handle errors.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2615184"/>
            <a:ext cx="3767328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543800" y="2615184"/>
            <a:ext cx="64008" cy="1024128"/>
          </a:xfrm>
          <a:prstGeom prst="rect">
            <a:avLst/>
          </a:prstGeom>
          <a:solidFill>
            <a:srgbClr val="DEA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44968" y="2761488"/>
            <a:ext cx="341985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3D"/>
                </a:solidFill>
                <a:latin typeface="Aptos"/>
              </a:rPr>
              <a:t>CLARITY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4968" y="3145536"/>
            <a:ext cx="3401568" cy="40233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C3848"/>
                </a:solidFill>
                <a:latin typeface="Aptos"/>
              </a:rPr>
              <a:t>Show transactions and balance changes.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43800" y="3813048"/>
            <a:ext cx="3767328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543800" y="3813048"/>
            <a:ext cx="64008" cy="1024128"/>
          </a:xfrm>
          <a:prstGeom prst="rect">
            <a:avLst/>
          </a:prstGeom>
          <a:solidFill>
            <a:srgbClr val="328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44968" y="3959352"/>
            <a:ext cx="341985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33D"/>
                </a:solidFill>
                <a:latin typeface="Aptos"/>
              </a:rPr>
              <a:t>EXTENSIBILITY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44968" y="4343400"/>
            <a:ext cx="3401568" cy="40233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C3848"/>
                </a:solidFill>
                <a:latin typeface="Aptos"/>
              </a:rPr>
              <a:t>Add search, date filters and export options.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3767328"/>
            <a:ext cx="6355080" cy="1170432"/>
          </a:xfrm>
          <a:prstGeom prst="roundRect">
            <a:avLst/>
          </a:prstGeom>
          <a:solidFill>
            <a:srgbClr val="14233D"/>
          </a:solidFill>
          <a:ln w="10160">
            <a:solidFill>
              <a:srgbClr val="14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4023360"/>
            <a:ext cx="5806440" cy="6217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Test with sample transactions and verify balances.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5687568"/>
            <a:ext cx="105156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8B85"/>
                </a:solidFill>
                <a:latin typeface="Aptos"/>
              </a:rPr>
              <a:t>Every balance should match the transaction history.</a:t>
            </a:r>
          </a:p>
        </p:txBody>
      </p:sp>
    </p:spTree>
    <p:extLst>
      <p:ext uri="{BB962C8B-B14F-4D97-AF65-F5344CB8AC3E}">
        <p14:creationId xmlns:p14="http://schemas.microsoft.com/office/powerpoint/2010/main" val="1744964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1F8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27632" y="347472"/>
            <a:ext cx="9966960" cy="5303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b="1">
                <a:solidFill>
                  <a:srgbClr val="50AAFF"/>
                </a:solidFill>
              </a:rPr>
              <a:t>Program Output Screenshots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41148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67484"/>
                </a:solidFill>
                <a:latin typeface="Aptos"/>
              </a:rPr>
              <a:t>K. Rithwik  •  2620040124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92240"/>
            <a:ext cx="64008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1F8B85"/>
                </a:solidFill>
                <a:latin typeface="Aptos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94183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8">
                <a:solidFill>
                  <a:srgbClr val="BEC8D7"/>
                </a:solidFill>
              </a:defRPr>
            </a:pPr>
            <a:r>
              <a:t>Actual console output: menu, deposit, withdrawal, and transaction flow.</a:t>
            </a:r>
          </a:p>
        </p:txBody>
      </p:sp>
      <p:pic>
        <p:nvPicPr>
          <p:cNvPr id="11" name="Picture 10" descr="Screenshot 2026-09-21 2305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591" y="1325880"/>
            <a:ext cx="5335336" cy="2267712"/>
          </a:xfrm>
          <a:prstGeom prst="rect">
            <a:avLst/>
          </a:prstGeom>
        </p:spPr>
      </p:pic>
      <p:pic>
        <p:nvPicPr>
          <p:cNvPr id="12" name="Picture 11" descr="Screenshot 2026-09-21 2306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1375850"/>
            <a:ext cx="5440679" cy="2167770"/>
          </a:xfrm>
          <a:prstGeom prst="rect">
            <a:avLst/>
          </a:prstGeom>
        </p:spPr>
      </p:pic>
      <p:pic>
        <p:nvPicPr>
          <p:cNvPr id="13" name="Picture 12" descr="Screenshot 2026-09-21 2306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7182" y="3977639"/>
            <a:ext cx="2892154" cy="2267712"/>
          </a:xfrm>
          <a:prstGeom prst="rect">
            <a:avLst/>
          </a:prstGeom>
        </p:spPr>
      </p:pic>
      <p:pic>
        <p:nvPicPr>
          <p:cNvPr id="14" name="Picture 13" descr="Screenshot 2026-09-21 23063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7497" y="3977639"/>
            <a:ext cx="4318101" cy="2267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298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1F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0" y="1024128"/>
            <a:ext cx="658368" cy="36576"/>
          </a:xfrm>
          <a:prstGeom prst="rect">
            <a:avLst/>
          </a:prstGeom>
          <a:solidFill>
            <a:srgbClr val="E1A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hank You Title"/>
          <p:cNvSpPr txBox="1"/>
          <p:nvPr/>
        </p:nvSpPr>
        <p:spPr>
          <a:xfrm>
            <a:off x="1645920" y="1874519"/>
            <a:ext cx="8961120" cy="10515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4200" b="1">
                <a:solidFill>
                  <a:srgbClr val="182742"/>
                </a:solidFill>
                <a:latin typeface="Aptos Display"/>
              </a:rPr>
              <a:t>Thank You</a:t>
            </a:r>
          </a:p>
        </p:txBody>
      </p:sp>
      <p:sp>
        <p:nvSpPr>
          <p:cNvPr id="5" name="Thank You Subtitle"/>
          <p:cNvSpPr txBox="1"/>
          <p:nvPr/>
        </p:nvSpPr>
        <p:spPr>
          <a:xfrm>
            <a:off x="1682496" y="2907792"/>
            <a:ext cx="896112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200" b="1">
                <a:solidFill>
                  <a:srgbClr val="1F8B84"/>
                </a:solidFill>
                <a:latin typeface="Aptos"/>
              </a:rPr>
              <a:t>Personal Bank Ledger Statement Generator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1682496" y="3703320"/>
            <a:ext cx="1325880" cy="54864"/>
          </a:xfrm>
          <a:prstGeom prst="rect">
            <a:avLst/>
          </a:prstGeom>
          <a:solidFill>
            <a:srgbClr val="E1A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hank You Note"/>
          <p:cNvSpPr txBox="1"/>
          <p:nvPr/>
        </p:nvSpPr>
        <p:spPr>
          <a:xfrm>
            <a:off x="1682496" y="4041648"/>
            <a:ext cx="813816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900" b="0">
                <a:solidFill>
                  <a:srgbClr val="526379"/>
                </a:solidFill>
                <a:latin typeface="Aptos"/>
              </a:rPr>
              <a:t>Thank you for your time and attention.</a:t>
            </a:r>
          </a:p>
        </p:txBody>
      </p:sp>
      <p:sp>
        <p:nvSpPr>
          <p:cNvPr id="8" name="Student Name"/>
          <p:cNvSpPr txBox="1"/>
          <p:nvPr/>
        </p:nvSpPr>
        <p:spPr>
          <a:xfrm>
            <a:off x="1682496" y="4892040"/>
            <a:ext cx="813816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400" b="1">
                <a:solidFill>
                  <a:srgbClr val="182742"/>
                </a:solidFill>
                <a:latin typeface="Aptos"/>
              </a:rPr>
              <a:t>K. Rithwik  •  Roll No. 2620040124</a:t>
            </a:r>
          </a:p>
        </p:txBody>
      </p:sp>
      <p:sp>
        <p:nvSpPr>
          <p:cNvPr id="9" name="Footer Course"/>
          <p:cNvSpPr txBox="1"/>
          <p:nvPr/>
        </p:nvSpPr>
        <p:spPr>
          <a:xfrm>
            <a:off x="658368" y="6510528"/>
            <a:ext cx="548640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00" b="1">
                <a:solidFill>
                  <a:srgbClr val="6F8196"/>
                </a:solidFill>
                <a:latin typeface="Aptos"/>
              </a:rPr>
              <a:t>PROBLEM SOLVING USING PROGRAMMING (JAVA)</a:t>
            </a:r>
          </a:p>
        </p:txBody>
      </p:sp>
      <p:sp>
        <p:nvSpPr>
          <p:cNvPr id="10" name="Footer Number"/>
          <p:cNvSpPr txBox="1"/>
          <p:nvPr/>
        </p:nvSpPr>
        <p:spPr>
          <a:xfrm>
            <a:off x="10835640" y="6492240"/>
            <a:ext cx="64008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sz="1000" b="1">
                <a:solidFill>
                  <a:srgbClr val="1F8B84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775</Words>
  <Application>Microsoft Office PowerPoint</Application>
  <PresentationFormat>Widescreen</PresentationFormat>
  <Paragraphs>171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TSP MADHURI</dc:creator>
  <cp:lastModifiedBy>Rithwik K</cp:lastModifiedBy>
  <cp:revision>3</cp:revision>
  <dcterms:created xsi:type="dcterms:W3CDTF">2026-09-15T09:57:10Z</dcterms:created>
  <dcterms:modified xsi:type="dcterms:W3CDTF">2026-10-16T08:47:51Z</dcterms:modified>
</cp:coreProperties>
</file>